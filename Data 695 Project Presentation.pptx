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0"/>
    <a:srgbClr val="FBB031"/>
    <a:srgbClr val="E32726"/>
    <a:srgbClr val="D60057"/>
    <a:srgbClr val="8B857B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47"/>
  </p:normalViewPr>
  <p:slideViewPr>
    <p:cSldViewPr snapToGrid="0" snapToObjects="1" showGuides="1">
      <p:cViewPr varScale="1">
        <p:scale>
          <a:sx n="79" d="100"/>
          <a:sy n="79" d="100"/>
        </p:scale>
        <p:origin x="850" y="72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ACE1-0839-DD4E-8A8D-815B08AED9A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8301-8E47-694C-884E-80E9D526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600"/>
              </a:lnSpc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/>
              <a:t>Presenter’s title / additional designations</a:t>
            </a:r>
            <a:br>
              <a:rPr lang="en-US" dirty="0"/>
            </a:br>
            <a:r>
              <a:rPr lang="en-US" dirty="0"/>
              <a:t>Faculty of / Department of / additional designations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E4B113-E638-B640-8F48-252058659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6022975"/>
            <a:ext cx="6586081" cy="52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rgbClr val="FFCD00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029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32D7-DB76-2847-ADA0-EE213BE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C696-28D5-3D4E-90D5-168D3804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537526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E32726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994-38BD-EA48-95B9-EDE63B92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3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73EC9B2-3D79-EB42-BD2D-94A59CE5C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7853A-8D09-4041-8FD1-E58DBA8A7F0F}"/>
              </a:ext>
            </a:extLst>
          </p:cNvPr>
          <p:cNvCxnSpPr/>
          <p:nvPr userDrawn="1"/>
        </p:nvCxnSpPr>
        <p:spPr>
          <a:xfrm>
            <a:off x="6096000" y="1551313"/>
            <a:ext cx="0" cy="46534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50DEA-27DF-7C4E-AD5F-60F66ED518A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16D1F-0C29-D446-876E-DD6C096D73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5375" y="582460"/>
            <a:ext cx="8317935" cy="56680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62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This slide is for one big, bold statement. Bullet points can’t compete! </a:t>
            </a:r>
          </a:p>
        </p:txBody>
      </p:sp>
    </p:spTree>
    <p:extLst>
      <p:ext uri="{BB962C8B-B14F-4D97-AF65-F5344CB8AC3E}">
        <p14:creationId xmlns:p14="http://schemas.microsoft.com/office/powerpoint/2010/main" val="3997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 for attending! </a:t>
            </a:r>
            <a:br>
              <a:rPr lang="en-US" dirty="0"/>
            </a:br>
            <a:r>
              <a:rPr lang="en-US" dirty="0"/>
              <a:t>and/or other concluding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For more information go to </a:t>
            </a:r>
            <a:r>
              <a:rPr lang="en-US" dirty="0" err="1"/>
              <a:t>ucalgary.ca</a:t>
            </a:r>
            <a:r>
              <a:rPr lang="en-US" dirty="0"/>
              <a:t>/</a:t>
            </a:r>
            <a:r>
              <a:rPr lang="en-US" dirty="0" err="1"/>
              <a:t>webaddress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 err="1"/>
              <a:t>presentersemail@ucalgary.ca</a:t>
            </a:r>
            <a:br>
              <a:rPr lang="en-US" dirty="0"/>
            </a:br>
            <a:r>
              <a:rPr lang="en-US" dirty="0"/>
              <a:t>Phone number / Twitter handle / additional contact info</a:t>
            </a:r>
          </a:p>
        </p:txBody>
      </p:sp>
    </p:spTree>
    <p:extLst>
      <p:ext uri="{BB962C8B-B14F-4D97-AF65-F5344CB8AC3E}">
        <p14:creationId xmlns:p14="http://schemas.microsoft.com/office/powerpoint/2010/main" val="179591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4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A485-1CE4-D943-BF73-46F1F53E1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695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511D1-7FCA-FB4B-9E50-F071C460F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Walmart  </a:t>
            </a:r>
            <a:r>
              <a:rPr lang="en-IN" dirty="0"/>
              <a:t>M5 Forecasting - Accuracy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4C84-A742-DD4F-A936-BBDA5C8BB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Gautham Nagaraj</a:t>
            </a:r>
          </a:p>
          <a:p>
            <a:r>
              <a:rPr lang="en-US" dirty="0"/>
              <a:t>Joshua </a:t>
            </a:r>
            <a:r>
              <a:rPr lang="en-US" dirty="0" err="1"/>
              <a:t>Quartley</a:t>
            </a:r>
            <a:endParaRPr lang="en-US" dirty="0"/>
          </a:p>
          <a:p>
            <a:r>
              <a:rPr lang="en-US" dirty="0"/>
              <a:t>Prince </a:t>
            </a:r>
            <a:r>
              <a:rPr lang="en-US" dirty="0" err="1"/>
              <a:t>Oloma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2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49FC-91C4-7E4C-B0DF-F13D8EA4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5D7C-6796-A142-AA52-64D0BC472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99617"/>
            <a:ext cx="10697228" cy="45509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Kaggle repository consists of 5 datasets: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sales_train_validation.csv 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Sales_train_evaluation.csv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Calender.csv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Sell_prices.csv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Sample_submissions.csv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BA6A9-CEA9-1F48-8C2B-13EE0DAE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22459904-85B6-37F5-1D3A-D960D01E7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668" y="2514600"/>
            <a:ext cx="3621932" cy="362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3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7B60-4C36-6B50-82E2-A80273FE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10FC8-A82D-7B5B-C8E5-DA7E3988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345E4A-DE7E-2A6C-6979-CE9AFD391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0" y="1153846"/>
            <a:ext cx="5990310" cy="2455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FF90DF-64F6-8AB3-7BD0-1CF8072D1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17" y="3803572"/>
            <a:ext cx="9871870" cy="2363821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97C5852-25FE-3BD6-30A4-2796FD631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332705" y="1141069"/>
            <a:ext cx="5710137" cy="228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74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EB350-2419-E090-D6AC-1CFCF9C091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9A77C-BD62-CA4A-FDA4-75A0E7E59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Features were added based off the calendar dataset: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Sales lags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Rolling average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Days before 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B9B16-8841-8EEF-86CB-89CA262C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Graphic 5" descr="An embroidery set with hoop, needles and thread, scissors and buttons">
            <a:extLst>
              <a:ext uri="{FF2B5EF4-FFF2-40B4-BE49-F238E27FC236}">
                <a16:creationId xmlns:a16="http://schemas.microsoft.com/office/drawing/2014/main" id="{D7106FF4-C78A-8EA6-F66D-E71C352EB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306" y="1702340"/>
            <a:ext cx="5787958" cy="522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8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CF06-9693-018D-B2C8-C2B6C539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Baseline/Linear Models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EFF01-BA5D-0720-ED3C-AFF3F0FC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linear models were used to obtain a baseline: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Ridge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Lasso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SGD Regression with partial fit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Facebook Prophet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DE351-F723-0965-9DBC-C8581C31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5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F79F-BFF6-AD0C-D656-C5BA9C028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baseline model - Prophet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09DB34-A184-0E23-5A0B-AD977D96D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078" y="1440407"/>
            <a:ext cx="4789723" cy="42891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74582-6458-3666-10F8-8EC861F5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D3B4D-D526-D0DF-3F86-4A434AA85119}"/>
              </a:ext>
            </a:extLst>
          </p:cNvPr>
          <p:cNvSpPr txBox="1"/>
          <p:nvPr/>
        </p:nvSpPr>
        <p:spPr>
          <a:xfrm>
            <a:off x="1439693" y="5797685"/>
            <a:ext cx="4089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Prediction for product HOBBIES_1_001_CA_1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3DA7F8-3D0B-48A4-B73C-8CCC4B6B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24" y="1234846"/>
            <a:ext cx="6338721" cy="44947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921A11-6616-79C6-BAFA-0F2B43B67DBD}"/>
              </a:ext>
            </a:extLst>
          </p:cNvPr>
          <p:cNvSpPr txBox="1"/>
          <p:nvPr/>
        </p:nvSpPr>
        <p:spPr>
          <a:xfrm>
            <a:off x="6858000" y="5797685"/>
            <a:ext cx="5009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Prediction vs Actual sales for HOBBIES_1_001_CA_1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EB11D1-FCCB-A3F6-D2EA-0512A3EB24A6}"/>
              </a:ext>
            </a:extLst>
          </p:cNvPr>
          <p:cNvSpPr txBox="1"/>
          <p:nvPr/>
        </p:nvSpPr>
        <p:spPr>
          <a:xfrm>
            <a:off x="4081902" y="6362004"/>
            <a:ext cx="4089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Mean Absolute Percentage Error (MAPE): 44.68% </a:t>
            </a:r>
          </a:p>
          <a:p>
            <a:r>
              <a:rPr lang="en-US" sz="1400" dirty="0"/>
              <a:t>Root Mean Squared Error (RMSE): 1.18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9097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E0E1-5395-267C-06C1-38294CF5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FA84-1B43-B692-31C3-C44FF8DAF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F711D-9063-CC6F-4C23-7946CD6E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47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- Widescreen" id="{BDE806B9-D085-0547-8443-536EF56E10D0}" vid="{A3112E41-4A82-8045-91CC-360E8E7927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4191d5-9b76-4ae3-8401-87ceee92a846">
      <UserInfo>
        <DisplayName>Office Of Advancement Visitors</DisplayName>
        <AccountId>4</AccountId>
        <AccountType/>
      </UserInfo>
      <UserInfo>
        <DisplayName>UCalgary Brand</DisplayName>
        <AccountId>15</AccountId>
        <AccountType/>
      </UserInfo>
    </SharedWithUsers>
    <TaxCatchAll xmlns="7a4191d5-9b76-4ae3-8401-87ceee92a846" xsi:nil="true"/>
    <lcf76f155ced4ddcb4097134ff3c332f xmlns="b9b0194d-1e98-4efc-bad5-9450f4bf7a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A14D9A0FA515564792FEACC70AB1043E" ma:contentTypeVersion="15" ma:contentTypeDescription="Create a new document." ma:contentTypeScope="" ma:versionID="268d53061a527a1a15b3a06f324de7ac">
  <xsd:schema xmlns:xsd="http://www.w3.org/2001/XMLSchema" xmlns:xs="http://www.w3.org/2001/XMLSchema" xmlns:p="http://schemas.microsoft.com/office/2006/metadata/properties" xmlns:ns2="7a4191d5-9b76-4ae3-8401-87ceee92a846" xmlns:ns3="b9b0194d-1e98-4efc-bad5-9450f4bf7a13" targetNamespace="http://schemas.microsoft.com/office/2006/metadata/properties" ma:root="true" ma:fieldsID="602eb0f4584b499882d83f15ecf09c65" ns2:_="" ns3:_="">
    <xsd:import namespace="7a4191d5-9b76-4ae3-8401-87ceee92a846"/>
    <xsd:import namespace="b9b0194d-1e98-4efc-bad5-9450f4bf7a1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91d5-9b76-4ae3-8401-87ceee92a8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6da6b-3754-4ea3-9a44-9d844208727a}" ma:internalName="TaxCatchAll" ma:showField="CatchAllData" ma:web="7a4191d5-9b76-4ae3-8401-87ceee92a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0194d-1e98-4efc-bad5-9450f4bf7a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7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B8F560-7E6C-44AE-AFE4-924D1118F0AA}">
  <ds:schemaRefs>
    <ds:schemaRef ds:uri="http://schemas.microsoft.com/office/2006/metadata/properties"/>
    <ds:schemaRef ds:uri="http://schemas.microsoft.com/office/infopath/2007/PartnerControls"/>
    <ds:schemaRef ds:uri="7a4191d5-9b76-4ae3-8401-87ceee92a846"/>
    <ds:schemaRef ds:uri="b9b0194d-1e98-4efc-bad5-9450f4bf7a13"/>
  </ds:schemaRefs>
</ds:datastoreItem>
</file>

<file path=customXml/itemProps2.xml><?xml version="1.0" encoding="utf-8"?>
<ds:datastoreItem xmlns:ds="http://schemas.openxmlformats.org/officeDocument/2006/customXml" ds:itemID="{67A4AE25-BBA1-49A6-B4F8-E97286BA01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C4D92C-5791-4EB8-90FF-890DA69333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4191d5-9b76-4ae3-8401-87ceee92a846"/>
    <ds:schemaRef ds:uri="b9b0194d-1e98-4efc-bad5-9450f4bf7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</Template>
  <TotalTime>33</TotalTime>
  <Words>150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Data 695 Project Presentation</vt:lpstr>
      <vt:lpstr>The Data</vt:lpstr>
      <vt:lpstr>EDA</vt:lpstr>
      <vt:lpstr>Feature Engineering</vt:lpstr>
      <vt:lpstr>Baseline/Linear Models </vt:lpstr>
      <vt:lpstr>The baseline model - Prophet</vt:lpstr>
      <vt:lpstr>Non-linear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Gautham Nagaraj</dc:creator>
  <cp:lastModifiedBy>Gautham Nagaraj</cp:lastModifiedBy>
  <cp:revision>1</cp:revision>
  <dcterms:created xsi:type="dcterms:W3CDTF">2025-11-29T16:38:29Z</dcterms:created>
  <dcterms:modified xsi:type="dcterms:W3CDTF">2025-11-29T17:12:17Z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0x010100A14D9A0FA515564792FEACC70AB1043E</vt:lpwstr>
  </property>
  <property fmtid="{D5CDD505-2E9C-101B-9397-08002B2CF9AE}" pid="3" name="Order">
    <vt:r8>20600</vt:r8>
  </property>
</Properties>
</file>